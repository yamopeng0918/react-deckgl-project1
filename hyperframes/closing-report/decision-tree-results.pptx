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343C9B-C74F-4DAB-9924-2E09E855C159}" v="5" dt="2026-07-15T05:29:03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07D"/>
          </a:solidFill>
          <a:ln>
            <a:solidFill>
              <a:srgbClr val="1F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7498079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132338"/>
                </a:solidFill>
                <a:latin typeface="Microsoft JhengHei"/>
              </a:rPr>
              <a:t>台灣地震最大震度｜決策樹分類結果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7680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667280"/>
                </a:solidFill>
                <a:latin typeface="Microsoft JhengHei"/>
              </a:rPr>
              <a:t>時間外推驗證：以 1995–2023 訓練，2024–2026 測試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600200" cy="850392"/>
          </a:xfrm>
          <a:prstGeom prst="roundRect">
            <a:avLst/>
          </a:prstGeom>
          <a:solidFill>
            <a:srgbClr val="FFFFFF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325880"/>
            <a:ext cx="12710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67280"/>
                </a:solidFill>
                <a:latin typeface="Microsoft JhengHei"/>
              </a:rPr>
              <a:t>整體準確率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517904"/>
            <a:ext cx="1271016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222B36"/>
                </a:solidFill>
                <a:latin typeface="Microsoft JhengHei"/>
              </a:rPr>
              <a:t>28.33%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47088"/>
            <a:ext cx="1271016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667280"/>
                </a:solidFill>
                <a:latin typeface="Microsoft JhengHei"/>
              </a:rPr>
              <a:t>chronological holdout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2848" y="1234440"/>
            <a:ext cx="1325880" cy="850392"/>
          </a:xfrm>
          <a:prstGeom prst="roundRect">
            <a:avLst/>
          </a:prstGeom>
          <a:solidFill>
            <a:srgbClr val="FFFFFF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1325880"/>
            <a:ext cx="99669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67280"/>
                </a:solidFill>
                <a:latin typeface="Microsoft JhengHei"/>
              </a:rPr>
              <a:t>訓練資料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517904"/>
            <a:ext cx="996695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222B36"/>
                </a:solidFill>
                <a:latin typeface="Microsoft JhengHei"/>
              </a:rPr>
              <a:t>13,617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847088"/>
            <a:ext cx="996695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667280"/>
                </a:solidFill>
                <a:latin typeface="Microsoft JhengHei"/>
              </a:rPr>
              <a:t>1995–2023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48456" y="1234440"/>
            <a:ext cx="1325880" cy="850392"/>
          </a:xfrm>
          <a:prstGeom prst="roundRect">
            <a:avLst/>
          </a:prstGeom>
          <a:solidFill>
            <a:srgbClr val="FFFFFF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13048" y="1325880"/>
            <a:ext cx="99669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67280"/>
                </a:solidFill>
                <a:latin typeface="Microsoft JhengHei"/>
              </a:rPr>
              <a:t>測試資料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1517904"/>
            <a:ext cx="996695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222B36"/>
                </a:solidFill>
                <a:latin typeface="Microsoft JhengHei"/>
              </a:rPr>
              <a:t>3,039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1847088"/>
            <a:ext cx="996695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667280"/>
                </a:solidFill>
                <a:latin typeface="Microsoft JhengHei"/>
              </a:rPr>
              <a:t>2024–2026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2304288"/>
            <a:ext cx="42062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32338"/>
                </a:solidFill>
                <a:latin typeface="Microsoft JhengHei"/>
              </a:rPr>
              <a:t>各震度命中率（Recall）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" y="2578608"/>
            <a:ext cx="420624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Microsoft JhengHei"/>
              </a:rPr>
              <a:t>百分比旁括號為測試樣本數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834640"/>
            <a:ext cx="29260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32338"/>
                </a:solidFill>
                <a:latin typeface="Microsoft JhengHei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" y="2852928"/>
            <a:ext cx="2240280" cy="146304"/>
          </a:xfrm>
          <a:prstGeom prst="rect">
            <a:avLst/>
          </a:prstGeom>
          <a:solidFill>
            <a:srgbClr val="E2E7E6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27832" y="2825496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0.0%  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191256"/>
            <a:ext cx="29260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32338"/>
                </a:solidFill>
                <a:latin typeface="Microsoft JhengHe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" y="3209544"/>
            <a:ext cx="2240280" cy="146304"/>
          </a:xfrm>
          <a:prstGeom prst="rect">
            <a:avLst/>
          </a:prstGeom>
          <a:solidFill>
            <a:srgbClr val="E2E7E6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7824" y="3209544"/>
            <a:ext cx="589139" cy="146304"/>
          </a:xfrm>
          <a:prstGeom prst="rect">
            <a:avLst/>
          </a:prstGeom>
          <a:solidFill>
            <a:srgbClr val="1F807D"/>
          </a:solidFill>
          <a:ln>
            <a:solidFill>
              <a:srgbClr val="1F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27832" y="3182112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26.3%  (289)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547872"/>
            <a:ext cx="29260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32338"/>
                </a:solidFill>
                <a:latin typeface="Microsoft JhengHei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" y="3566160"/>
            <a:ext cx="2240280" cy="146304"/>
          </a:xfrm>
          <a:prstGeom prst="rect">
            <a:avLst/>
          </a:prstGeom>
          <a:solidFill>
            <a:srgbClr val="E2E7E6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7824" y="3566160"/>
            <a:ext cx="566205" cy="146304"/>
          </a:xfrm>
          <a:prstGeom prst="rect">
            <a:avLst/>
          </a:prstGeom>
          <a:solidFill>
            <a:srgbClr val="1F807D"/>
          </a:solidFill>
          <a:ln>
            <a:solidFill>
              <a:srgbClr val="1F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27832" y="3538728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25.3%  (1,278)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3904487"/>
            <a:ext cx="29260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32338"/>
                </a:solidFill>
                <a:latin typeface="Microsoft JhengHe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" y="3922775"/>
            <a:ext cx="2240280" cy="146304"/>
          </a:xfrm>
          <a:prstGeom prst="rect">
            <a:avLst/>
          </a:prstGeom>
          <a:solidFill>
            <a:srgbClr val="E2E7E6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7824" y="3922775"/>
            <a:ext cx="640080" cy="146304"/>
          </a:xfrm>
          <a:prstGeom prst="rect">
            <a:avLst/>
          </a:prstGeom>
          <a:solidFill>
            <a:srgbClr val="1F807D"/>
          </a:solidFill>
          <a:ln>
            <a:solidFill>
              <a:srgbClr val="1F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27832" y="3895344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28.6%  (910)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261104"/>
            <a:ext cx="29260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32338"/>
                </a:solidFill>
                <a:latin typeface="Microsoft JhengHe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" y="4279392"/>
            <a:ext cx="2240280" cy="146304"/>
          </a:xfrm>
          <a:prstGeom prst="rect">
            <a:avLst/>
          </a:prstGeom>
          <a:solidFill>
            <a:srgbClr val="E2E7E6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7824" y="4279392"/>
            <a:ext cx="795341" cy="146304"/>
          </a:xfrm>
          <a:prstGeom prst="rect">
            <a:avLst/>
          </a:prstGeom>
          <a:solidFill>
            <a:srgbClr val="1F807D"/>
          </a:solidFill>
          <a:ln>
            <a:solidFill>
              <a:srgbClr val="1F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27832" y="4251960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35.5%  (538)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4617720"/>
            <a:ext cx="29260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32338"/>
                </a:solidFill>
                <a:latin typeface="Microsoft JhengHei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" y="4636008"/>
            <a:ext cx="2240280" cy="146304"/>
          </a:xfrm>
          <a:prstGeom prst="rect">
            <a:avLst/>
          </a:prstGeom>
          <a:solidFill>
            <a:srgbClr val="E2E7E6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7824" y="4636008"/>
            <a:ext cx="1061185" cy="146304"/>
          </a:xfrm>
          <a:prstGeom prst="rect">
            <a:avLst/>
          </a:prstGeom>
          <a:solidFill>
            <a:srgbClr val="DA9335"/>
          </a:solidFill>
          <a:ln>
            <a:solidFill>
              <a:srgbClr val="DA9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27832" y="4608576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47.4%  (19)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4974336"/>
            <a:ext cx="29260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32338"/>
                </a:solidFill>
                <a:latin typeface="Microsoft JhengHei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" y="4992623"/>
            <a:ext cx="2240280" cy="146304"/>
          </a:xfrm>
          <a:prstGeom prst="rect">
            <a:avLst/>
          </a:prstGeom>
          <a:solidFill>
            <a:srgbClr val="E2E7E6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77824" y="4992623"/>
            <a:ext cx="1120140" cy="146304"/>
          </a:xfrm>
          <a:prstGeom prst="rect">
            <a:avLst/>
          </a:prstGeom>
          <a:solidFill>
            <a:srgbClr val="DA9335"/>
          </a:solidFill>
          <a:ln>
            <a:solidFill>
              <a:srgbClr val="DA9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27832" y="4965192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50.0%  (4)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29260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132338"/>
                </a:solidFill>
                <a:latin typeface="Microsoft JhengHei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7824" y="5349240"/>
            <a:ext cx="2240280" cy="146304"/>
          </a:xfrm>
          <a:prstGeom prst="rect">
            <a:avLst/>
          </a:prstGeom>
          <a:solidFill>
            <a:srgbClr val="E2E7E6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27832" y="5321808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N/A  (0)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7" y="5788152"/>
            <a:ext cx="45262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Microsoft JhengHei"/>
              </a:rPr>
              <a:t>模型設定：max_depth=12 · min_samples_leaf=1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30368" y="1234440"/>
            <a:ext cx="6455664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68112" y="1417320"/>
            <a:ext cx="3657600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32338"/>
                </a:solidFill>
                <a:latin typeface="Microsoft JhengHei"/>
              </a:rPr>
              <a:t>混淆矩陣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42832" y="1444752"/>
            <a:ext cx="245059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67280"/>
                </a:solidFill>
                <a:latin typeface="Microsoft JhengHei"/>
              </a:rPr>
              <a:t>列＝實際｜欄＝預測</a:t>
            </a:r>
          </a:p>
        </p:txBody>
      </p:sp>
      <p:pic>
        <p:nvPicPr>
          <p:cNvPr id="53" name="Picture 52" descr="decision_tre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1737360"/>
            <a:ext cx="5650992" cy="3968496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502920" y="6126480"/>
            <a:ext cx="11183112" cy="438912"/>
          </a:xfrm>
          <a:prstGeom prst="round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232" y="6263695"/>
            <a:ext cx="6585136" cy="14619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 dirty="0" err="1">
                <a:solidFill>
                  <a:schemeClr val="bg1"/>
                </a:solidFill>
                <a:latin typeface="Microsoft JhengHei"/>
              </a:rPr>
              <a:t>結論｜目前為基準模型：整體辨識能力有限；震度</a:t>
            </a:r>
            <a:r>
              <a:rPr sz="950" b="1" dirty="0">
                <a:solidFill>
                  <a:schemeClr val="bg1"/>
                </a:solidFill>
                <a:latin typeface="Microsoft JhengHei"/>
              </a:rPr>
              <a:t> 5、6 </a:t>
            </a:r>
            <a:r>
              <a:rPr sz="950" b="1" dirty="0" err="1">
                <a:solidFill>
                  <a:schemeClr val="bg1"/>
                </a:solidFill>
                <a:latin typeface="Microsoft JhengHei"/>
              </a:rPr>
              <a:t>樣本僅</a:t>
            </a:r>
            <a:r>
              <a:rPr sz="950" b="1" dirty="0">
                <a:solidFill>
                  <a:schemeClr val="bg1"/>
                </a:solidFill>
                <a:latin typeface="Microsoft JhengHei"/>
              </a:rPr>
              <a:t> 19、4 </a:t>
            </a:r>
            <a:r>
              <a:rPr sz="950" b="1" dirty="0" err="1">
                <a:solidFill>
                  <a:schemeClr val="bg1"/>
                </a:solidFill>
                <a:latin typeface="Microsoft JhengHei"/>
              </a:rPr>
              <a:t>筆，震度</a:t>
            </a:r>
            <a:r>
              <a:rPr sz="950" b="1" dirty="0">
                <a:solidFill>
                  <a:schemeClr val="bg1"/>
                </a:solidFill>
                <a:latin typeface="Microsoft JhengHei"/>
              </a:rPr>
              <a:t> 7 </a:t>
            </a:r>
            <a:r>
              <a:rPr sz="950" b="1" dirty="0" err="1">
                <a:solidFill>
                  <a:schemeClr val="bg1"/>
                </a:solidFill>
                <a:latin typeface="Microsoft JhengHei"/>
              </a:rPr>
              <a:t>無測試樣本，命中率不宜視為穩定結論</a:t>
            </a:r>
            <a:r>
              <a:rPr sz="950" b="1" dirty="0">
                <a:solidFill>
                  <a:schemeClr val="bg1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</cp:revision>
  <dcterms:created xsi:type="dcterms:W3CDTF">2013-01-27T09:14:16Z</dcterms:created>
  <dcterms:modified xsi:type="dcterms:W3CDTF">2026-07-15T05:29:06Z</dcterms:modified>
  <cp:category/>
</cp:coreProperties>
</file>