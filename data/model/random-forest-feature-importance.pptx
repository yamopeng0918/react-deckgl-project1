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accent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8581"/>
          </a:solidFill>
          <a:ln>
            <a:solidFill>
              <a:srgbClr val="198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94360" y="246888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92A3E"/>
                </a:solidFill>
                <a:latin typeface="Microsoft JhengHei"/>
                <a:ea typeface="Microsoft JhengHei"/>
              </a:rPr>
              <a:t>什麼特徵最影響最大震度分類？</a:t>
            </a:r>
          </a:p>
        </p:txBody>
      </p:sp>
      <p:sp>
        <p:nvSpPr>
          <p:cNvPr id="4" name="slide-subtitle"/>
          <p:cNvSpPr txBox="1"/>
          <p:nvPr/>
        </p:nvSpPr>
        <p:spPr>
          <a:xfrm>
            <a:off x="594360" y="70408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5717C"/>
                </a:solidFill>
                <a:latin typeface="Microsoft JhengHei"/>
                <a:ea typeface="Microsoft JhengHei"/>
              </a:rPr>
              <a:t>隨機森林特徵重要度｜數值越高，模型越常依賴該特徵做判斷</a:t>
            </a:r>
          </a:p>
        </p:txBody>
      </p:sp>
      <p:sp>
        <p:nvSpPr>
          <p:cNvPr id="5" name="importance-label-magnitude"/>
          <p:cNvSpPr txBox="1"/>
          <p:nvPr/>
        </p:nvSpPr>
        <p:spPr>
          <a:xfrm>
            <a:off x="594360" y="141732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73441"/>
                </a:solidFill>
                <a:latin typeface="Microsoft JhengHei"/>
                <a:ea typeface="Microsoft JhengHei"/>
              </a:rPr>
              <a:t>規模</a:t>
            </a:r>
          </a:p>
        </p:txBody>
      </p:sp>
      <p:sp>
        <p:nvSpPr>
          <p:cNvPr id="6" name="importance-bar-magnitude"/>
          <p:cNvSpPr/>
          <p:nvPr/>
        </p:nvSpPr>
        <p:spPr>
          <a:xfrm>
            <a:off x="1554480" y="1417320"/>
            <a:ext cx="5349240" cy="329184"/>
          </a:xfrm>
          <a:prstGeom prst="roundRect">
            <a:avLst/>
          </a:prstGeom>
          <a:solidFill>
            <a:srgbClr val="198581"/>
          </a:solidFill>
          <a:ln>
            <a:solidFill>
              <a:srgbClr val="198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portance-value-magnitude"/>
          <p:cNvSpPr txBox="1"/>
          <p:nvPr/>
        </p:nvSpPr>
        <p:spPr>
          <a:xfrm>
            <a:off x="7013448" y="141732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Microsoft JhengHei"/>
                <a:ea typeface="Microsoft JhengHei"/>
              </a:rPr>
              <a:t>31.13%</a:t>
            </a:r>
          </a:p>
        </p:txBody>
      </p:sp>
      <p:sp>
        <p:nvSpPr>
          <p:cNvPr id="8" name="importance-label-latitude"/>
          <p:cNvSpPr txBox="1"/>
          <p:nvPr/>
        </p:nvSpPr>
        <p:spPr>
          <a:xfrm>
            <a:off x="594360" y="214884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73441"/>
                </a:solidFill>
                <a:latin typeface="Microsoft JhengHei"/>
                <a:ea typeface="Microsoft JhengHei"/>
              </a:rPr>
              <a:t>緯度</a:t>
            </a:r>
          </a:p>
        </p:txBody>
      </p:sp>
      <p:sp>
        <p:nvSpPr>
          <p:cNvPr id="9" name="importance-bar-latitude"/>
          <p:cNvSpPr/>
          <p:nvPr/>
        </p:nvSpPr>
        <p:spPr>
          <a:xfrm>
            <a:off x="1554480" y="2148840"/>
            <a:ext cx="3744882" cy="329184"/>
          </a:xfrm>
          <a:prstGeom prst="roundRect">
            <a:avLst/>
          </a:prstGeom>
          <a:solidFill>
            <a:srgbClr val="3F9490"/>
          </a:solidFill>
          <a:ln>
            <a:solidFill>
              <a:srgbClr val="3F9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portance-value-latitude"/>
          <p:cNvSpPr txBox="1"/>
          <p:nvPr/>
        </p:nvSpPr>
        <p:spPr>
          <a:xfrm>
            <a:off x="5409090" y="214884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92A3E"/>
                </a:solidFill>
                <a:latin typeface="Microsoft JhengHei"/>
                <a:ea typeface="Microsoft JhengHei"/>
              </a:rPr>
              <a:t>21.80%</a:t>
            </a:r>
          </a:p>
        </p:txBody>
      </p:sp>
      <p:sp>
        <p:nvSpPr>
          <p:cNvPr id="11" name="importance-label-depth_km"/>
          <p:cNvSpPr txBox="1"/>
          <p:nvPr/>
        </p:nvSpPr>
        <p:spPr>
          <a:xfrm>
            <a:off x="594360" y="288036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73441"/>
                </a:solidFill>
                <a:latin typeface="Microsoft JhengHei"/>
                <a:ea typeface="Microsoft JhengHei"/>
              </a:rPr>
              <a:t>深度</a:t>
            </a:r>
          </a:p>
        </p:txBody>
      </p:sp>
      <p:sp>
        <p:nvSpPr>
          <p:cNvPr id="12" name="importance-bar-depth_km"/>
          <p:cNvSpPr/>
          <p:nvPr/>
        </p:nvSpPr>
        <p:spPr>
          <a:xfrm>
            <a:off x="1554480" y="2880360"/>
            <a:ext cx="2742350" cy="329184"/>
          </a:xfrm>
          <a:prstGeom prst="roundRect">
            <a:avLst/>
          </a:prstGeom>
          <a:solidFill>
            <a:srgbClr val="5CA29E"/>
          </a:solidFill>
          <a:ln>
            <a:solidFill>
              <a:srgbClr val="5CA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mportance-value-depth_km"/>
          <p:cNvSpPr txBox="1"/>
          <p:nvPr/>
        </p:nvSpPr>
        <p:spPr>
          <a:xfrm>
            <a:off x="4406558" y="288036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92A3E"/>
                </a:solidFill>
                <a:latin typeface="Microsoft JhengHei"/>
                <a:ea typeface="Microsoft JhengHei"/>
              </a:rPr>
              <a:t>15.96%</a:t>
            </a:r>
          </a:p>
        </p:txBody>
      </p:sp>
      <p:sp>
        <p:nvSpPr>
          <p:cNvPr id="14" name="importance-label-longitude"/>
          <p:cNvSpPr txBox="1"/>
          <p:nvPr/>
        </p:nvSpPr>
        <p:spPr>
          <a:xfrm>
            <a:off x="594360" y="361188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73441"/>
                </a:solidFill>
                <a:latin typeface="Microsoft JhengHei"/>
                <a:ea typeface="Microsoft JhengHei"/>
              </a:rPr>
              <a:t>經度</a:t>
            </a:r>
          </a:p>
        </p:txBody>
      </p:sp>
      <p:sp>
        <p:nvSpPr>
          <p:cNvPr id="15" name="importance-bar-longitude"/>
          <p:cNvSpPr/>
          <p:nvPr/>
        </p:nvSpPr>
        <p:spPr>
          <a:xfrm>
            <a:off x="1554480" y="3611880"/>
            <a:ext cx="2416552" cy="329184"/>
          </a:xfrm>
          <a:prstGeom prst="roundRect">
            <a:avLst/>
          </a:prstGeom>
          <a:solidFill>
            <a:srgbClr val="78B0AC"/>
          </a:solidFill>
          <a:ln>
            <a:solidFill>
              <a:srgbClr val="78B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mportance-value-longitude"/>
          <p:cNvSpPr txBox="1"/>
          <p:nvPr/>
        </p:nvSpPr>
        <p:spPr>
          <a:xfrm>
            <a:off x="4080760" y="361188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92A3E"/>
                </a:solidFill>
                <a:latin typeface="Microsoft JhengHei"/>
                <a:ea typeface="Microsoft JhengHei"/>
              </a:rPr>
              <a:t>14.06%</a:t>
            </a:r>
          </a:p>
        </p:txBody>
      </p:sp>
      <p:sp>
        <p:nvSpPr>
          <p:cNvPr id="17" name="importance-label-hour"/>
          <p:cNvSpPr txBox="1"/>
          <p:nvPr/>
        </p:nvSpPr>
        <p:spPr>
          <a:xfrm>
            <a:off x="594360" y="4343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73441"/>
                </a:solidFill>
                <a:latin typeface="Microsoft JhengHei"/>
                <a:ea typeface="Microsoft JhengHei"/>
              </a:rPr>
              <a:t>時刻</a:t>
            </a:r>
          </a:p>
        </p:txBody>
      </p:sp>
      <p:sp>
        <p:nvSpPr>
          <p:cNvPr id="18" name="importance-bar-hour"/>
          <p:cNvSpPr/>
          <p:nvPr/>
        </p:nvSpPr>
        <p:spPr>
          <a:xfrm>
            <a:off x="1554480" y="4343400"/>
            <a:ext cx="1635301" cy="329184"/>
          </a:xfrm>
          <a:prstGeom prst="roundRect">
            <a:avLst/>
          </a:prstGeom>
          <a:solidFill>
            <a:srgbClr val="94BEBA"/>
          </a:solidFill>
          <a:ln>
            <a:solidFill>
              <a:srgbClr val="94B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mportance-value-hour"/>
          <p:cNvSpPr txBox="1"/>
          <p:nvPr/>
        </p:nvSpPr>
        <p:spPr>
          <a:xfrm>
            <a:off x="3299509" y="434340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92A3E"/>
                </a:solidFill>
                <a:latin typeface="Microsoft JhengHei"/>
                <a:ea typeface="Microsoft JhengHei"/>
              </a:rPr>
              <a:t>9.52%</a:t>
            </a:r>
          </a:p>
        </p:txBody>
      </p:sp>
      <p:sp>
        <p:nvSpPr>
          <p:cNvPr id="20" name="importance-label-month"/>
          <p:cNvSpPr txBox="1"/>
          <p:nvPr/>
        </p:nvSpPr>
        <p:spPr>
          <a:xfrm>
            <a:off x="594360" y="507492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73441"/>
                </a:solidFill>
                <a:latin typeface="Microsoft JhengHei"/>
                <a:ea typeface="Microsoft JhengHei"/>
              </a:rPr>
              <a:t>月份</a:t>
            </a:r>
          </a:p>
        </p:txBody>
      </p:sp>
      <p:sp>
        <p:nvSpPr>
          <p:cNvPr id="21" name="importance-bar-month"/>
          <p:cNvSpPr/>
          <p:nvPr/>
        </p:nvSpPr>
        <p:spPr>
          <a:xfrm>
            <a:off x="1554480" y="5074920"/>
            <a:ext cx="1293763" cy="329184"/>
          </a:xfrm>
          <a:prstGeom prst="roundRect">
            <a:avLst/>
          </a:prstGeom>
          <a:solidFill>
            <a:srgbClr val="AFCCC8"/>
          </a:solidFill>
          <a:ln>
            <a:solidFill>
              <a:srgbClr val="AF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mportance-value-month"/>
          <p:cNvSpPr txBox="1"/>
          <p:nvPr/>
        </p:nvSpPr>
        <p:spPr>
          <a:xfrm>
            <a:off x="2957971" y="5074920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92A3E"/>
                </a:solidFill>
                <a:latin typeface="Microsoft JhengHei"/>
                <a:ea typeface="Microsoft JhengHei"/>
              </a:rPr>
              <a:t>7.53%</a:t>
            </a:r>
          </a:p>
        </p:txBody>
      </p:sp>
      <p:sp>
        <p:nvSpPr>
          <p:cNvPr id="23" name="insight-heading"/>
          <p:cNvSpPr txBox="1"/>
          <p:nvPr/>
        </p:nvSpPr>
        <p:spPr>
          <a:xfrm>
            <a:off x="8366760" y="1014984"/>
            <a:ext cx="33192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98581"/>
                </a:solidFill>
                <a:latin typeface="Microsoft JhengHei"/>
                <a:ea typeface="Microsoft JhengHei"/>
              </a:rPr>
              <a:t>模型洞見</a:t>
            </a:r>
          </a:p>
        </p:txBody>
      </p:sp>
      <p:sp>
        <p:nvSpPr>
          <p:cNvPr id="24" name="importance-insight-1"/>
          <p:cNvSpPr/>
          <p:nvPr/>
        </p:nvSpPr>
        <p:spPr>
          <a:xfrm>
            <a:off x="8366760" y="1353312"/>
            <a:ext cx="331927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46304" tIns="91440" bIns="91440" wrap="square"/>
          <a:lstStyle/>
          <a:p>
            <a:pPr algn="ctr"/>
            <a:r>
              <a:rPr sz="1200" b="1">
                <a:solidFill>
                  <a:srgbClr val="273441"/>
                </a:solidFill>
                <a:latin typeface="Microsoft JhengHei"/>
                <a:ea typeface="Microsoft JhengHei"/>
              </a:rPr>
              <a:t>規模是最重要的單一特徵（31.13%）</a:t>
            </a:r>
          </a:p>
        </p:txBody>
      </p:sp>
      <p:sp>
        <p:nvSpPr>
          <p:cNvPr id="25" name="importance-insight-accent-1"/>
          <p:cNvSpPr/>
          <p:nvPr/>
        </p:nvSpPr>
        <p:spPr>
          <a:xfrm>
            <a:off x="8366760" y="1353312"/>
            <a:ext cx="73152" cy="1024128"/>
          </a:xfrm>
          <a:prstGeom prst="rect">
            <a:avLst/>
          </a:prstGeom>
          <a:solidFill>
            <a:srgbClr val="198581"/>
          </a:solidFill>
          <a:ln>
            <a:solidFill>
              <a:srgbClr val="198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mportance-insight-2"/>
          <p:cNvSpPr/>
          <p:nvPr/>
        </p:nvSpPr>
        <p:spPr>
          <a:xfrm>
            <a:off x="8366760" y="2587752"/>
            <a:ext cx="331927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46304" tIns="91440" bIns="91440" wrap="square"/>
          <a:lstStyle/>
          <a:p>
            <a:pPr algn="ctr"/>
            <a:r>
              <a:rPr sz="1200" b="1">
                <a:solidFill>
                  <a:srgbClr val="273441"/>
                </a:solidFill>
                <a:latin typeface="Microsoft JhengHei"/>
                <a:ea typeface="Microsoft JhengHei"/>
              </a:rPr>
              <a:t>經緯度合計 35.86%，顯示地理位置整體影響高於單一規模</a:t>
            </a:r>
          </a:p>
        </p:txBody>
      </p:sp>
      <p:sp>
        <p:nvSpPr>
          <p:cNvPr id="27" name="importance-insight-accent-2"/>
          <p:cNvSpPr/>
          <p:nvPr/>
        </p:nvSpPr>
        <p:spPr>
          <a:xfrm>
            <a:off x="8366760" y="2587752"/>
            <a:ext cx="73152" cy="1024128"/>
          </a:xfrm>
          <a:prstGeom prst="rect">
            <a:avLst/>
          </a:prstGeom>
          <a:solidFill>
            <a:srgbClr val="3F9490"/>
          </a:solidFill>
          <a:ln>
            <a:solidFill>
              <a:srgbClr val="3F9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mportance-insight-3"/>
          <p:cNvSpPr/>
          <p:nvPr/>
        </p:nvSpPr>
        <p:spPr>
          <a:xfrm>
            <a:off x="8366760" y="3822191"/>
            <a:ext cx="331927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146304" tIns="91440" bIns="91440" wrap="square"/>
          <a:lstStyle/>
          <a:p>
            <a:pPr algn="ctr"/>
            <a:r>
              <a:rPr sz="1200" b="1">
                <a:solidFill>
                  <a:srgbClr val="273441"/>
                </a:solidFill>
                <a:latin typeface="Microsoft JhengHei"/>
                <a:ea typeface="Microsoft JhengHei"/>
              </a:rPr>
              <a:t>月份與時刻合計 17.05%，時間訊號存在，但不是主要依據</a:t>
            </a:r>
          </a:p>
        </p:txBody>
      </p:sp>
      <p:sp>
        <p:nvSpPr>
          <p:cNvPr id="29" name="importance-insight-accent-3"/>
          <p:cNvSpPr/>
          <p:nvPr/>
        </p:nvSpPr>
        <p:spPr>
          <a:xfrm>
            <a:off x="8366760" y="3822191"/>
            <a:ext cx="73152" cy="1024128"/>
          </a:xfrm>
          <a:prstGeom prst="rect">
            <a:avLst/>
          </a:prstGeom>
          <a:solidFill>
            <a:srgbClr val="5CA29E"/>
          </a:solidFill>
          <a:ln>
            <a:solidFill>
              <a:srgbClr val="5CA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imitation"/>
          <p:cNvSpPr txBox="1"/>
          <p:nvPr/>
        </p:nvSpPr>
        <p:spPr>
          <a:xfrm>
            <a:off x="594360" y="59893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65717C"/>
                </a:solidFill>
                <a:latin typeface="Microsoft JhengHei"/>
                <a:ea typeface="Microsoft JhengHei"/>
              </a:rPr>
              <a:t>重要度代表模型使用程度，不等於因果關係；經緯度也可能共同反映區域差異。本模型是最大震度分類，不是地震預測。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