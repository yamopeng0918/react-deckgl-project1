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807D"/>
          </a:solidFill>
          <a:ln>
            <a:solidFill>
              <a:srgbClr val="1F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2500" b="1">
                <a:solidFill>
                  <a:srgbClr val="132338"/>
                </a:solidFill>
                <a:latin typeface="Microsoft JhengHei"/>
              </a:rPr>
              <a:t>隨機森林最大震度分類結果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9728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667280"/>
                </a:solidFill>
                <a:latin typeface="Microsoft JhengHei"/>
              </a:rPr>
              <a:t>依時間切分的獨立測試結果｜分類，不是地震預測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35608"/>
            <a:ext cx="128016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100" b="1">
                <a:solidFill>
                  <a:srgbClr val="667280"/>
                </a:solidFill>
                <a:latin typeface="Microsoft JhengHei"/>
              </a:rP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737360"/>
            <a:ext cx="2377440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2600" b="1">
                <a:solidFill>
                  <a:srgbClr val="1F807D"/>
                </a:solidFill>
                <a:latin typeface="Microsoft JhengHei"/>
              </a:rPr>
              <a:t>43.90%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23444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15968" y="1435608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100" b="1">
                <a:solidFill>
                  <a:srgbClr val="667280"/>
                </a:solidFill>
                <a:latin typeface="Microsoft JhengHei"/>
              </a:rPr>
              <a:t>Macro 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1737360"/>
            <a:ext cx="2377440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2600" b="1">
                <a:solidFill>
                  <a:srgbClr val="DA9335"/>
                </a:solidFill>
                <a:latin typeface="Microsoft JhengHei"/>
              </a:rPr>
              <a:t>40.81%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325880"/>
            <a:ext cx="3749039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200" b="1">
                <a:solidFill>
                  <a:srgbClr val="132338"/>
                </a:solidFill>
                <a:latin typeface="Microsoft JhengHei"/>
              </a:rPr>
              <a:t>訓練 1995–2023｜13,617 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847088"/>
            <a:ext cx="3749039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200" b="1">
                <a:solidFill>
                  <a:srgbClr val="132338"/>
                </a:solidFill>
                <a:latin typeface="Microsoft JhengHei"/>
              </a:rPr>
              <a:t>測試 2024–2026｜3,039 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715768"/>
            <a:ext cx="3749039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400" b="1">
                <a:solidFill>
                  <a:srgbClr val="132338"/>
                </a:solidFill>
                <a:latin typeface="Microsoft JhengHei"/>
              </a:rPr>
              <a:t>各強度 Recall /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108960"/>
            <a:ext cx="260604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50" b="1">
                <a:solidFill>
                  <a:srgbClr val="222B36"/>
                </a:solidFill>
                <a:latin typeface="Microsoft JhengHei"/>
              </a:rPr>
              <a:t>強度 0：0.0%（support 1）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639312"/>
            <a:ext cx="260604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50" b="0">
                <a:solidFill>
                  <a:srgbClr val="222B36"/>
                </a:solidFill>
                <a:latin typeface="Microsoft JhengHei"/>
              </a:rPr>
              <a:t>強度 1：19.4%（support 289）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169663"/>
            <a:ext cx="260604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50" b="0">
                <a:solidFill>
                  <a:srgbClr val="222B36"/>
                </a:solidFill>
                <a:latin typeface="Microsoft JhengHei"/>
              </a:rPr>
              <a:t>強度 2：43.2%（support 1,278）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700016"/>
            <a:ext cx="260604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50" b="0">
                <a:solidFill>
                  <a:srgbClr val="222B36"/>
                </a:solidFill>
                <a:latin typeface="Microsoft JhengHei"/>
              </a:rPr>
              <a:t>強度 3：39.8%（support 910）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3108960"/>
            <a:ext cx="260604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50" b="0">
                <a:solidFill>
                  <a:srgbClr val="222B36"/>
                </a:solidFill>
                <a:latin typeface="Microsoft JhengHei"/>
              </a:rPr>
              <a:t>強度 4：64.9%（support 538）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3639312"/>
            <a:ext cx="260604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50" b="0">
                <a:solidFill>
                  <a:srgbClr val="222B36"/>
                </a:solidFill>
                <a:latin typeface="Microsoft JhengHei"/>
              </a:rPr>
              <a:t>強度 5：68.4%（support 19）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4169663"/>
            <a:ext cx="260604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50" b="1">
                <a:solidFill>
                  <a:srgbClr val="222B36"/>
                </a:solidFill>
                <a:latin typeface="Microsoft JhengHei"/>
              </a:rPr>
              <a:t>強度 6：50.0%（support 4）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4700016"/>
            <a:ext cx="260604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50" b="1">
                <a:solidFill>
                  <a:srgbClr val="222B36"/>
                </a:solidFill>
                <a:latin typeface="Microsoft JhengHei"/>
              </a:rPr>
              <a:t>強度 7：N/A（support 0）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743200"/>
            <a:ext cx="5394960" cy="1417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19" b="1">
                <a:solidFill>
                  <a:srgbClr val="132338"/>
                </a:solidFill>
                <a:latin typeface="Microsoft JhengHei"/>
              </a:rPr>
              <a:t>選定參數
n_estimators=200｜max_depth=12｜min_samples_leaf=1｜max_features=sqrt｜class_weight=balanced_subsample｜random_state=42｜validation_start_year=2021｜validation_end_year=2023｜validation_macro_recall=0.4206442216388069｜validation_accuracy=0.4582869855394883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389120"/>
            <a:ext cx="5440680" cy="1325880"/>
          </a:xfrm>
          <a:prstGeom prst="roundRect">
            <a:avLst/>
          </a:prstGeom>
          <a:solidFill>
            <a:srgbClr val="132338"/>
          </a:solidFill>
          <a:ln>
            <a:solidFill>
              <a:srgbClr val="13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4553712"/>
            <a:ext cx="4937760" cy="9326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稀有類別警告：測試集強度 0 僅 1 筆、強度 6 僅 4 筆、強度 7 為 0 筆；相關 Recall 不宜視為穩定結論。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807D"/>
          </a:solidFill>
          <a:ln>
            <a:solidFill>
              <a:srgbClr val="1F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772400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2400" b="1">
                <a:solidFill>
                  <a:srgbClr val="132338"/>
                </a:solidFill>
                <a:latin typeface="Microsoft JhengHei"/>
              </a:rPr>
              <a:t>隨機森林混淆矩陣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7955279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100" b="0">
                <a:solidFill>
                  <a:srgbClr val="667280"/>
                </a:solidFill>
                <a:latin typeface="Microsoft JhengHei"/>
              </a:rPr>
              <a:t>實際類別（縱軸）｜預測類別（橫軸）</a:t>
            </a:r>
          </a:p>
        </p:txBody>
      </p:sp>
      <p:pic>
        <p:nvPicPr>
          <p:cNvPr id="5" name="Picture 4" descr="random_forest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742" y="1078992"/>
            <a:ext cx="6877594" cy="5349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58200" y="1143000"/>
            <a:ext cx="32461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32520" y="1371600"/>
            <a:ext cx="2697480" cy="1417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300" b="1">
                <a:solidFill>
                  <a:srgbClr val="132338"/>
                </a:solidFill>
                <a:latin typeface="Microsoft JhengHei"/>
              </a:rPr>
              <a:t>主要觀察
2–4 級相鄰混淆最明顯，顯示模型容易在相近震度間錯分。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3383280"/>
            <a:ext cx="3246120" cy="2011680"/>
          </a:xfrm>
          <a:prstGeom prst="roundRect">
            <a:avLst/>
          </a:prstGeom>
          <a:solidFill>
            <a:srgbClr val="132338"/>
          </a:solidFill>
          <a:ln>
            <a:solidFill>
              <a:srgbClr val="13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3639312"/>
            <a:ext cx="2697480" cy="1417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Microsoft JhengHei"/>
              </a:rPr>
              <a:t>支持數警告
0、6、7 級樣本極少或不存在，矩陣與 Recall 均須審慎解讀。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