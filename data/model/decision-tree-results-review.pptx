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07D"/>
          </a:solidFill>
          <a:ln>
            <a:solidFill>
              <a:srgbClr val="1F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32338"/>
                </a:solidFill>
                <a:latin typeface="Microsoft JhengHei"/>
              </a:rPr>
              <a:t>台灣地震最大震度｜兩模型時間外推比較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95528"/>
            <a:ext cx="109728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67280"/>
                </a:solidFill>
                <a:latin typeface="Microsoft JhengHei"/>
              </a:rPr>
              <a:t>共同評估｜訓練 1995–2023（13,617 筆）｜測試 2024–2026（3,039 筆）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42900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81912"/>
            <a:ext cx="301752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F807D"/>
                </a:solidFill>
                <a:latin typeface="Microsoft JhengHei"/>
              </a:rPr>
              <a:t>決策樹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01952"/>
            <a:ext cx="148132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Microsoft JhengHei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12264"/>
            <a:ext cx="148132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6"/>
                </a:solidFill>
                <a:latin typeface="Microsoft JhengHei"/>
              </a:rPr>
              <a:t>28.33%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1901952"/>
            <a:ext cx="1463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Microsoft JhengHei"/>
              </a:rPr>
              <a:t>Macro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112264"/>
            <a:ext cx="146304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6"/>
                </a:solidFill>
                <a:latin typeface="Microsoft JhengHei"/>
              </a:rPr>
              <a:t>30.43%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87752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32338"/>
                </a:solidFill>
                <a:latin typeface="Microsoft JhengHei"/>
              </a:rPr>
              <a:t>震度   Recall（support）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862072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862072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0.0%（1）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45536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145536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26.3%（289）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429000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429000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25.3%（1,278）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712463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12463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28.6%（910）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995928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995928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35.5%（538）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279392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279392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47.4%（19）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4562856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562856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50.0%（4）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4846320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846320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N/A（0）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5230368"/>
            <a:ext cx="2999232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667280"/>
                </a:solidFill>
                <a:latin typeface="Microsoft JhengHei"/>
              </a:rPr>
              <a:t>選定參數｜max_depth=12 · min_samples_leaf=1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5614416"/>
            <a:ext cx="29992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20" b="0">
                <a:solidFill>
                  <a:srgbClr val="667280"/>
                </a:solidFill>
                <a:latin typeface="Microsoft JhengHei"/>
              </a:rPr>
              <a:t>驗證 Macro Recall 32.87% · Accuracy 34.65%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1417320"/>
            <a:ext cx="3429000" cy="4498848"/>
          </a:xfrm>
          <a:prstGeom prst="roundRect">
            <a:avLst/>
          </a:prstGeom>
          <a:solidFill>
            <a:srgbClr val="FFFFFF"/>
          </a:solidFill>
          <a:ln>
            <a:solidFill>
              <a:srgbClr val="E2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1581912"/>
            <a:ext cx="301752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DA9335"/>
                </a:solidFill>
                <a:latin typeface="Microsoft JhengHei"/>
              </a:rPr>
              <a:t>隨機森林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1901952"/>
            <a:ext cx="148132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Microsoft JhengHei"/>
              </a:rP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0248" y="2112264"/>
            <a:ext cx="148132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6"/>
                </a:solidFill>
                <a:latin typeface="Microsoft JhengHei"/>
              </a:rPr>
              <a:t>43.90%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3872" y="1901952"/>
            <a:ext cx="14630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Microsoft JhengHei"/>
              </a:rPr>
              <a:t>Macro 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3872" y="2112264"/>
            <a:ext cx="146304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2B36"/>
                </a:solidFill>
                <a:latin typeface="Microsoft JhengHei"/>
              </a:rPr>
              <a:t>40.81%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0248" y="2587752"/>
            <a:ext cx="29260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32338"/>
                </a:solidFill>
                <a:latin typeface="Microsoft JhengHei"/>
              </a:rPr>
              <a:t>震度   Recall（support）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8536" y="2862072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8" y="2862072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0.0%（1）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88536" y="3145536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6008" y="3145536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19.4%（289）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88536" y="3429000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36008" y="3429000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43.2%（1,278）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88536" y="3712463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36008" y="3712463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39.8%（910）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88536" y="3995928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36008" y="3995928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64.9%（538）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88536" y="4279392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36008" y="4279392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68.4%（19）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88536" y="4562856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36008" y="4562856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50.0%（4）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88536" y="4846320"/>
            <a:ext cx="27432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2338"/>
                </a:solidFill>
                <a:latin typeface="Microsoft JhengHe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36008" y="4846320"/>
            <a:ext cx="1325880" cy="192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22B36"/>
                </a:solidFill>
                <a:latin typeface="Microsoft JhengHei"/>
              </a:rPr>
              <a:t>N/A（0）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70248" y="5230368"/>
            <a:ext cx="2999232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667280"/>
                </a:solidFill>
                <a:latin typeface="Microsoft JhengHei"/>
              </a:rPr>
              <a:t>選定參數｜n_estimators=200 · max_depth=12 · min_samples_leaf=1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0248" y="5614416"/>
            <a:ext cx="2999232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20" b="0">
                <a:solidFill>
                  <a:srgbClr val="667280"/>
                </a:solidFill>
                <a:latin typeface="Microsoft JhengHei"/>
              </a:rPr>
              <a:t>驗證 Macro Recall 42.06% · Accuracy 45.83%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35240" y="1417320"/>
            <a:ext cx="4050791" cy="4498848"/>
          </a:xfrm>
          <a:prstGeom prst="roundRect">
            <a:avLst/>
          </a:prstGeom>
          <a:solidFill>
            <a:srgbClr val="132338"/>
          </a:solidFill>
          <a:ln>
            <a:solidFill>
              <a:srgbClr val="13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18704" y="1664208"/>
            <a:ext cx="34747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比較結論｜隨機森林在時間外推測試的 Macro Recall 領先；Accuracy 亦由隨機森林領先。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18704" y="2404872"/>
            <a:ext cx="3456432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JhengHei"/>
              </a:rPr>
              <a:t>決策樹｜Macro Recall 30.43%｜Accuracy 28.33%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18704" y="3044952"/>
            <a:ext cx="3456432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JhengHei"/>
              </a:rPr>
              <a:t>隨機森林｜Macro Recall 40.81%｜Accuracy 43.90%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18704" y="3977639"/>
            <a:ext cx="3429000" cy="1234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JhengHei"/>
              </a:rPr>
              <a:t>稀有類別限制｜測試集震度 0 僅 1 筆、震度 6 僅 4 筆、震度 7 為 0 筆；其 Recall 不宜視為穩定結論。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6208776"/>
            <a:ext cx="1106424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67280"/>
                </a:solidFill>
                <a:latin typeface="Microsoft JhengHei"/>
              </a:rPr>
              <a:t>判讀原則｜先比較 chronological test Macro Recall，再以 Accuracy 作為次要排序。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