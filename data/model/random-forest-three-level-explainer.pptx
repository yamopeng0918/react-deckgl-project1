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955279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32338"/>
                </a:solidFill>
                <a:latin typeface="Microsoft JhengHei"/>
              </a:rPr>
              <a:t>隨機森林如何判斷最大震度？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6751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67280"/>
                </a:solidFill>
                <a:latin typeface="Microsoft JhengHei"/>
              </a:rPr>
              <a:t>代表樹第 8 棵｜以下為模型真實前三層判斷規則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314700" y="1828800"/>
            <a:ext cx="2779776" cy="594360"/>
          </a:xfrm>
          <a:prstGeom prst="line">
            <a:avLst/>
          </a:prstGeom>
          <a:ln w="25400">
            <a:solidFill>
              <a:srgbClr val="1F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66260" y="2016252"/>
            <a:ext cx="6766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F807D"/>
                </a:solidFill>
                <a:latin typeface="Microsoft JhengHei"/>
              </a:rPr>
              <a:t>是（≤）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760220" y="3172968"/>
            <a:ext cx="1554480" cy="667512"/>
          </a:xfrm>
          <a:prstGeom prst="line">
            <a:avLst/>
          </a:prstGeom>
          <a:ln w="25400">
            <a:solidFill>
              <a:srgbClr val="1F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9132" y="3396996"/>
            <a:ext cx="6766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F807D"/>
                </a:solidFill>
                <a:latin typeface="Microsoft JhengHei"/>
              </a:rPr>
              <a:t>是（≤）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14700" y="3172968"/>
            <a:ext cx="1188720" cy="667512"/>
          </a:xfrm>
          <a:prstGeom prst="line">
            <a:avLst/>
          </a:prstGeom>
          <a:ln w="25400">
            <a:solidFill>
              <a:srgbClr val="DA9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70732" y="3396996"/>
            <a:ext cx="6766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DA9335"/>
                </a:solidFill>
                <a:latin typeface="Microsoft JhengHei"/>
              </a:rPr>
              <a:t>否（&gt;）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1828800"/>
            <a:ext cx="2779776" cy="594360"/>
          </a:xfrm>
          <a:prstGeom prst="line">
            <a:avLst/>
          </a:prstGeom>
          <a:ln w="25400">
            <a:solidFill>
              <a:srgbClr val="DA9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46036" y="2016252"/>
            <a:ext cx="6766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DA9335"/>
                </a:solidFill>
                <a:latin typeface="Microsoft JhengHei"/>
              </a:rPr>
              <a:t>否（&gt;）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246620" y="3172968"/>
            <a:ext cx="1627632" cy="667512"/>
          </a:xfrm>
          <a:prstGeom prst="line">
            <a:avLst/>
          </a:prstGeom>
          <a:ln w="25400">
            <a:solidFill>
              <a:srgbClr val="1F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22108" y="3396996"/>
            <a:ext cx="6766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F807D"/>
                </a:solidFill>
                <a:latin typeface="Microsoft JhengHei"/>
              </a:rPr>
              <a:t>是（≤）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74252" y="3172968"/>
            <a:ext cx="1115567" cy="667512"/>
          </a:xfrm>
          <a:prstGeom prst="line">
            <a:avLst/>
          </a:prstGeom>
          <a:ln w="25400">
            <a:solidFill>
              <a:srgbClr val="DA9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93708" y="3396996"/>
            <a:ext cx="67665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DA9335"/>
                </a:solidFill>
                <a:latin typeface="Microsoft JhengHei"/>
              </a:rPr>
              <a:t>否（&gt;）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5736" y="1078992"/>
            <a:ext cx="2697480" cy="749808"/>
          </a:xfrm>
          <a:prstGeom prst="round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震級 ≤ 4.65？
樣本 8,577｜目前偏向震度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2423160"/>
            <a:ext cx="2697480" cy="749808"/>
          </a:xfrm>
          <a:prstGeom prst="roundRect">
            <a:avLst/>
          </a:prstGeom>
          <a:solidFill>
            <a:srgbClr val="809AAF"/>
          </a:solidFill>
          <a:ln>
            <a:solidFill>
              <a:srgbClr val="809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月份 ≤ 8.50？
樣本 7,554｜目前偏向震度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40480"/>
            <a:ext cx="2697480" cy="749808"/>
          </a:xfrm>
          <a:prstGeom prst="roundRect">
            <a:avLst/>
          </a:prstGeom>
          <a:solidFill>
            <a:srgbClr val="DFE7EB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50" b="1">
                <a:solidFill>
                  <a:srgbClr val="222B36"/>
                </a:solidFill>
                <a:latin typeface="Microsoft JhengHei"/>
              </a:rPr>
              <a:t>深度 ≤ 21.25？
樣本 5,105｜目前偏向震度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840480"/>
            <a:ext cx="2697480" cy="749808"/>
          </a:xfrm>
          <a:prstGeom prst="roundRect">
            <a:avLst/>
          </a:prstGeom>
          <a:solidFill>
            <a:srgbClr val="DFE7EB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50" b="1">
                <a:solidFill>
                  <a:srgbClr val="222B36"/>
                </a:solidFill>
                <a:latin typeface="Microsoft JhengHei"/>
              </a:rPr>
              <a:t>時刻 ≤ 10.50？
樣本 2,449｜目前偏向震度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5512" y="2423160"/>
            <a:ext cx="2697480" cy="749808"/>
          </a:xfrm>
          <a:prstGeom prst="roundRect">
            <a:avLst/>
          </a:prstGeom>
          <a:solidFill>
            <a:srgbClr val="809AAF"/>
          </a:solidFill>
          <a:ln>
            <a:solidFill>
              <a:srgbClr val="809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月份 ≤ 8.50？
樣本 1,023｜目前偏向震度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3840480"/>
            <a:ext cx="2697480" cy="749808"/>
          </a:xfrm>
          <a:prstGeom prst="roundRect">
            <a:avLst/>
          </a:prstGeom>
          <a:solidFill>
            <a:srgbClr val="DFE7EB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50" b="1">
                <a:solidFill>
                  <a:srgbClr val="222B36"/>
                </a:solidFill>
                <a:latin typeface="Microsoft JhengHei"/>
              </a:rPr>
              <a:t>時刻 ≤ 18.50？
樣本 664｜目前偏向震度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3840480"/>
            <a:ext cx="2697480" cy="749808"/>
          </a:xfrm>
          <a:prstGeom prst="roundRect">
            <a:avLst/>
          </a:prstGeom>
          <a:solidFill>
            <a:srgbClr val="DFE7EB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50" b="1">
                <a:solidFill>
                  <a:srgbClr val="222B36"/>
                </a:solidFill>
                <a:latin typeface="Microsoft JhengHei"/>
              </a:rPr>
              <a:t>震級 ≤ 6.15？
樣本 359｜目前偏向震度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0328"/>
            <a:ext cx="11183112" cy="841248"/>
          </a:xfrm>
          <a:prstGeom prst="round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38344"/>
            <a:ext cx="10634472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這只是 200 棵樹中的一棵。每棵樹各自判斷，最後由所有樹投票決定分類結果。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100023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667280"/>
                </a:solidFill>
                <a:latin typeface="Microsoft JhengHei"/>
              </a:rPr>
              <a:t>前三層只呈現模型早期的主要切分，不代表完整模型；本模型是最大震度分類，不是地震預測。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