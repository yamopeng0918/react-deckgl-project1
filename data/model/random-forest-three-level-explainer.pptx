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807D"/>
          </a:solidFill>
          <a:ln>
            <a:solidFill>
              <a:srgbClr val="1F8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7955279" cy="4389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132338"/>
                </a:solidFill>
                <a:latin typeface="Microsoft JhengHei"/>
                <a:ea typeface="Microsoft JhengHei"/>
              </a:rPr>
              <a:t>隨機森林如何判斷最大震度？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67512"/>
            <a:ext cx="1078992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67280"/>
                </a:solidFill>
                <a:latin typeface="Microsoft JhengHei"/>
                <a:ea typeface="Microsoft JhengHei"/>
              </a:rPr>
              <a:t>代表樹第 8 棵｜以下為模型真實前三層判斷規則</a:t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3314700" y="1828800"/>
            <a:ext cx="2779776" cy="594360"/>
          </a:xfrm>
          <a:prstGeom prst="line">
            <a:avLst/>
          </a:prstGeom>
          <a:ln w="25400">
            <a:solidFill>
              <a:srgbClr val="1F80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366260" y="2016252"/>
            <a:ext cx="676656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50" b="1">
                <a:solidFill>
                  <a:srgbClr val="1F807D"/>
                </a:solidFill>
                <a:latin typeface="Microsoft JhengHei"/>
                <a:ea typeface="Microsoft JhengHei"/>
              </a:rPr>
              <a:t>是（≤）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1760220" y="3172968"/>
            <a:ext cx="1554480" cy="667512"/>
          </a:xfrm>
          <a:prstGeom prst="line">
            <a:avLst/>
          </a:prstGeom>
          <a:ln w="25400">
            <a:solidFill>
              <a:srgbClr val="1F80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199132" y="3396996"/>
            <a:ext cx="676656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50" b="1">
                <a:solidFill>
                  <a:srgbClr val="1F807D"/>
                </a:solidFill>
                <a:latin typeface="Microsoft JhengHei"/>
                <a:ea typeface="Microsoft JhengHei"/>
              </a:rPr>
              <a:t>是（≤）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314700" y="3172968"/>
            <a:ext cx="1188720" cy="667512"/>
          </a:xfrm>
          <a:prstGeom prst="line">
            <a:avLst/>
          </a:prstGeom>
          <a:ln w="25400">
            <a:solidFill>
              <a:srgbClr val="DA93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70732" y="3396996"/>
            <a:ext cx="676656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50" b="1">
                <a:solidFill>
                  <a:srgbClr val="DA9335"/>
                </a:solidFill>
                <a:latin typeface="Microsoft JhengHei"/>
                <a:ea typeface="Microsoft JhengHei"/>
              </a:rPr>
              <a:t>否（&gt;）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94476" y="1828800"/>
            <a:ext cx="2779776" cy="594360"/>
          </a:xfrm>
          <a:prstGeom prst="line">
            <a:avLst/>
          </a:prstGeom>
          <a:ln w="25400">
            <a:solidFill>
              <a:srgbClr val="DA93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46036" y="2016252"/>
            <a:ext cx="676656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50" b="1">
                <a:solidFill>
                  <a:srgbClr val="DA9335"/>
                </a:solidFill>
                <a:latin typeface="Microsoft JhengHei"/>
                <a:ea typeface="Microsoft JhengHei"/>
              </a:rPr>
              <a:t>否（&gt;）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7246620" y="3172968"/>
            <a:ext cx="1627632" cy="667512"/>
          </a:xfrm>
          <a:prstGeom prst="line">
            <a:avLst/>
          </a:prstGeom>
          <a:ln w="25400">
            <a:solidFill>
              <a:srgbClr val="1F80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22108" y="3396996"/>
            <a:ext cx="676656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50" b="1">
                <a:solidFill>
                  <a:srgbClr val="1F807D"/>
                </a:solidFill>
                <a:latin typeface="Microsoft JhengHei"/>
                <a:ea typeface="Microsoft JhengHei"/>
              </a:rPr>
              <a:t>是（≤）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874252" y="3172968"/>
            <a:ext cx="1115567" cy="667512"/>
          </a:xfrm>
          <a:prstGeom prst="line">
            <a:avLst/>
          </a:prstGeom>
          <a:ln w="25400">
            <a:solidFill>
              <a:srgbClr val="DA93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093708" y="3396996"/>
            <a:ext cx="676656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50" b="1">
                <a:solidFill>
                  <a:srgbClr val="DA9335"/>
                </a:solidFill>
                <a:latin typeface="Microsoft JhengHei"/>
                <a:ea typeface="Microsoft JhengHei"/>
              </a:rPr>
              <a:t>否（&gt;）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45736" y="1078992"/>
            <a:ext cx="2697480" cy="749808"/>
          </a:xfrm>
          <a:prstGeom prst="roundRect">
            <a:avLst/>
          </a:prstGeom>
          <a:solidFill>
            <a:srgbClr val="132338"/>
          </a:solidFill>
          <a:ln>
            <a:solidFill>
              <a:srgbClr val="1323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</a:rPr>
              <a:t>震級 ≤ 4.65？
樣本 8,577｜目前偏向震度 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965960" y="2423160"/>
            <a:ext cx="2697480" cy="749808"/>
          </a:xfrm>
          <a:prstGeom prst="roundRect">
            <a:avLst/>
          </a:prstGeom>
          <a:solidFill>
            <a:srgbClr val="809AAF"/>
          </a:solidFill>
          <a:ln>
            <a:solidFill>
              <a:srgbClr val="809A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</a:rPr>
              <a:t>月份 ≤ 8.50？
樣本 7,554｜目前偏向震度 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840480"/>
            <a:ext cx="2697480" cy="749808"/>
          </a:xfrm>
          <a:prstGeom prst="roundRect">
            <a:avLst/>
          </a:prstGeom>
          <a:solidFill>
            <a:srgbClr val="DFE7EB"/>
          </a:solidFill>
          <a:ln>
            <a:solidFill>
              <a:srgbClr val="1323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050" b="1">
                <a:solidFill>
                  <a:srgbClr val="222B36"/>
                </a:solidFill>
                <a:latin typeface="Microsoft JhengHei"/>
                <a:ea typeface="Microsoft JhengHei"/>
              </a:rPr>
              <a:t>深度 ≤ 21.25？
樣本 5,105｜目前偏向震度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54680" y="3840480"/>
            <a:ext cx="2697480" cy="749808"/>
          </a:xfrm>
          <a:prstGeom prst="roundRect">
            <a:avLst/>
          </a:prstGeom>
          <a:solidFill>
            <a:srgbClr val="DFE7EB"/>
          </a:solidFill>
          <a:ln>
            <a:solidFill>
              <a:srgbClr val="1323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050" b="1">
                <a:solidFill>
                  <a:srgbClr val="222B36"/>
                </a:solidFill>
                <a:latin typeface="Microsoft JhengHei"/>
                <a:ea typeface="Microsoft JhengHei"/>
              </a:rPr>
              <a:t>時刻 ≤ 10.50？
樣本 2,449｜目前偏向震度 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25512" y="2423160"/>
            <a:ext cx="2697480" cy="749808"/>
          </a:xfrm>
          <a:prstGeom prst="roundRect">
            <a:avLst/>
          </a:prstGeom>
          <a:solidFill>
            <a:srgbClr val="809AAF"/>
          </a:solidFill>
          <a:ln>
            <a:solidFill>
              <a:srgbClr val="809A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</a:rPr>
              <a:t>月份 ≤ 8.50？
樣本 1,023｜目前偏向震度 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97880" y="3840480"/>
            <a:ext cx="2697480" cy="749808"/>
          </a:xfrm>
          <a:prstGeom prst="roundRect">
            <a:avLst/>
          </a:prstGeom>
          <a:solidFill>
            <a:srgbClr val="DFE7EB"/>
          </a:solidFill>
          <a:ln>
            <a:solidFill>
              <a:srgbClr val="1323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050" b="1">
                <a:solidFill>
                  <a:srgbClr val="222B36"/>
                </a:solidFill>
                <a:latin typeface="Microsoft JhengHei"/>
                <a:ea typeface="Microsoft JhengHei"/>
              </a:rPr>
              <a:t>時刻 ≤ 18.50？
樣本 664｜目前偏向震度 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41080" y="3840480"/>
            <a:ext cx="2697480" cy="749808"/>
          </a:xfrm>
          <a:prstGeom prst="roundRect">
            <a:avLst/>
          </a:prstGeom>
          <a:solidFill>
            <a:srgbClr val="DFE7EB"/>
          </a:solidFill>
          <a:ln>
            <a:solidFill>
              <a:srgbClr val="1323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050" b="1">
                <a:solidFill>
                  <a:srgbClr val="222B36"/>
                </a:solidFill>
                <a:latin typeface="Microsoft JhengHei"/>
                <a:ea typeface="Microsoft JhengHei"/>
              </a:rPr>
              <a:t>震級 ≤ 6.15？
樣本 359｜目前偏向震度 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910328"/>
            <a:ext cx="11183112" cy="841248"/>
          </a:xfrm>
          <a:prstGeom prst="roundRect">
            <a:avLst/>
          </a:prstGeom>
          <a:solidFill>
            <a:srgbClr val="132338"/>
          </a:solidFill>
          <a:ln>
            <a:solidFill>
              <a:srgbClr val="1323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38344"/>
            <a:ext cx="10634472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  <a:ea typeface="Microsoft JhengHei"/>
              </a:rPr>
              <a:t>這只是 200 棵樹中的一棵。每棵樹各自判斷，最後由所有樹投票決定分類結果。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989320"/>
            <a:ext cx="11000232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50" b="0">
                <a:solidFill>
                  <a:srgbClr val="667280"/>
                </a:solidFill>
                <a:latin typeface="Microsoft JhengHei"/>
                <a:ea typeface="Microsoft JhengHei"/>
              </a:rPr>
              <a:t>前三層只呈現模型早期的主要切分，不代表完整模型；本模型是最大震度分類，不是地震預測。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